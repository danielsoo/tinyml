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0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9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4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8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4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9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8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3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2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2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99B701-B7F4-B865-94C2-D552BCF2C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170166"/>
            <a:ext cx="10495904" cy="1988035"/>
          </a:xfrm>
        </p:spPr>
        <p:txBody>
          <a:bodyPr>
            <a:normAutofit/>
          </a:bodyPr>
          <a:lstStyle/>
          <a:p>
            <a:r>
              <a:rPr lang="en-US" dirty="0"/>
              <a:t>Federated &amp; </a:t>
            </a:r>
            <a:r>
              <a:rPr lang="en-US" dirty="0" err="1"/>
              <a:t>Adversarially</a:t>
            </a:r>
            <a:r>
              <a:rPr lang="en-US" dirty="0"/>
              <a:t> Robust </a:t>
            </a:r>
            <a:r>
              <a:rPr lang="en-US" dirty="0" err="1"/>
              <a:t>TinyML</a:t>
            </a:r>
            <a:r>
              <a:rPr lang="en-US" dirty="0"/>
              <a:t> for IoT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61550-A045-10FA-3BFF-04D47F1CB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964" y="2186195"/>
            <a:ext cx="5398649" cy="1643320"/>
          </a:xfrm>
        </p:spPr>
        <p:txBody>
          <a:bodyPr>
            <a:normAutofit/>
          </a:bodyPr>
          <a:lstStyle/>
          <a:p>
            <a:r>
              <a:rPr lang="en-US" altLang="zh-CN" dirty="0"/>
              <a:t>Peilong</a:t>
            </a:r>
            <a:r>
              <a:rPr lang="zh-CN" altLang="en-US" dirty="0"/>
              <a:t> </a:t>
            </a:r>
            <a:r>
              <a:rPr lang="en-US" altLang="zh-CN" dirty="0"/>
              <a:t>Li,</a:t>
            </a:r>
            <a:r>
              <a:rPr lang="zh-CN" altLang="en-US" dirty="0"/>
              <a:t> </a:t>
            </a:r>
            <a:r>
              <a:rPr lang="en-US" altLang="zh-CN" dirty="0"/>
              <a:t>Ph.D.</a:t>
            </a:r>
          </a:p>
          <a:p>
            <a:r>
              <a:rPr lang="en-US" altLang="zh-CN" dirty="0"/>
              <a:t>Associate</a:t>
            </a:r>
            <a:r>
              <a:rPr lang="zh-CN" altLang="en-US" dirty="0"/>
              <a:t> </a:t>
            </a:r>
            <a:r>
              <a:rPr lang="en-US" altLang="zh-CN" dirty="0"/>
              <a:t>Prof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Science</a:t>
            </a:r>
          </a:p>
          <a:p>
            <a:r>
              <a:rPr lang="en-US" altLang="zh-CN" dirty="0"/>
              <a:t>Elizabethtown</a:t>
            </a:r>
            <a:r>
              <a:rPr lang="zh-CN" altLang="en-US" dirty="0"/>
              <a:t> </a:t>
            </a:r>
            <a:r>
              <a:rPr lang="en-US" altLang="zh-CN" dirty="0"/>
              <a:t>College</a:t>
            </a:r>
            <a:endParaRPr 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Connected sticks shaping polygons background">
            <a:extLst>
              <a:ext uri="{FF2B5EF4-FFF2-40B4-BE49-F238E27FC236}">
                <a16:creationId xmlns:a16="http://schemas.microsoft.com/office/drawing/2014/main" id="{CC54C5BD-C514-08A5-5865-B967A9FF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47" r="2" b="25748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5926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E0DD-5C12-5D1D-FBD4-5A81D659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05205-810B-3F7E-C939-DC9938D5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core goal is to develop a novel security framework that allows powerful Intrusion Detection Systems (IDS) to run on highly resource-constrained IoT devices (e.g., sensors, smart home gadgets) while ensuring data privacy and resilience against AI-specific attacks.</a:t>
            </a:r>
          </a:p>
        </p:txBody>
      </p:sp>
    </p:spTree>
    <p:extLst>
      <p:ext uri="{BB962C8B-B14F-4D97-AF65-F5344CB8AC3E}">
        <p14:creationId xmlns:p14="http://schemas.microsoft.com/office/powerpoint/2010/main" val="344818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7C4-9828-F0E2-ECC7-4126EDAB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Privacy-Preserving Training with Federated Learning (FL)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8911-3B15-7A33-DEBC-0412D54C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Concept:</a:t>
            </a:r>
            <a:r>
              <a:rPr lang="en-US" dirty="0"/>
              <a:t> Instead of sending sensitive user data to a central server, each IoT device trains an AI model locally.</a:t>
            </a:r>
          </a:p>
          <a:p>
            <a:r>
              <a:rPr lang="en-US" b="1" dirty="0"/>
              <a:t>Process:</a:t>
            </a:r>
            <a:r>
              <a:rPr lang="en-US" dirty="0"/>
              <a:t> Only the model </a:t>
            </a:r>
            <a:r>
              <a:rPr lang="en-US" i="1" dirty="0"/>
              <a:t>updates</a:t>
            </a:r>
            <a:r>
              <a:rPr lang="en-US" dirty="0"/>
              <a:t> (not the raw data) are sent to an aggregator, which combines them to create an improved "global" model that is then sent back to the devices.</a:t>
            </a:r>
          </a:p>
          <a:p>
            <a:r>
              <a:rPr lang="en-US" b="1" dirty="0"/>
              <a:t>Primary Benefit:</a:t>
            </a:r>
            <a:r>
              <a:rPr lang="en-US" dirty="0"/>
              <a:t> This approach fundamentally protects user privacy and significantly reduces network communication overhead.</a:t>
            </a:r>
          </a:p>
          <a:p>
            <a:r>
              <a:rPr lang="en-US" b="1" dirty="0"/>
              <a:t>Research Focus:</a:t>
            </a:r>
            <a:r>
              <a:rPr lang="en-US" dirty="0"/>
              <a:t> Overcoming challenges like non-uniform data across devices (non-IID) and defending against malicious model updates (poisoning attacks).</a:t>
            </a:r>
          </a:p>
        </p:txBody>
      </p:sp>
    </p:spTree>
    <p:extLst>
      <p:ext uri="{BB962C8B-B14F-4D97-AF65-F5344CB8AC3E}">
        <p14:creationId xmlns:p14="http://schemas.microsoft.com/office/powerpoint/2010/main" val="168647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99B4-C76C-BD6C-0F7E-FDE81AA1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Efficient On-Device Deployment with </a:t>
            </a:r>
            <a:r>
              <a:rPr lang="en-US" dirty="0" err="1"/>
              <a:t>TinyML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DBF7-179B-9596-677C-4DF380C08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Problem:</a:t>
            </a:r>
            <a:r>
              <a:rPr lang="en-US" dirty="0"/>
              <a:t> The global model created by FL is too large and complex to run on a microcontroller with only kilobytes of memory</a:t>
            </a:r>
            <a:r>
              <a:rPr lang="zh-CN" altLang="en-US" dirty="0"/>
              <a:t> </a:t>
            </a:r>
            <a:r>
              <a:rPr lang="en-US" altLang="zh-CN" dirty="0"/>
              <a:t>(e.g.,</a:t>
            </a:r>
            <a:r>
              <a:rPr lang="zh-CN" altLang="en-US" dirty="0"/>
              <a:t> </a:t>
            </a:r>
            <a:r>
              <a:rPr lang="en-US" b="1" dirty="0"/>
              <a:t>ESP32</a:t>
            </a:r>
            <a:r>
              <a:rPr lang="en-US" dirty="0"/>
              <a:t> or the </a:t>
            </a:r>
            <a:r>
              <a:rPr lang="en-US" b="1" dirty="0"/>
              <a:t>Raspberry Pi Pico W</a:t>
            </a:r>
            <a:r>
              <a:rPr lang="en-US" altLang="zh-CN" dirty="0"/>
              <a:t>)</a:t>
            </a:r>
            <a:r>
              <a:rPr lang="en-US" dirty="0"/>
              <a:t>.</a:t>
            </a:r>
          </a:p>
          <a:p>
            <a:r>
              <a:rPr lang="en-US" b="1" dirty="0"/>
              <a:t>Solution:</a:t>
            </a:r>
            <a:r>
              <a:rPr lang="en-US" dirty="0"/>
              <a:t> A multi-stage compression pipeline is used to shrink the model:</a:t>
            </a:r>
          </a:p>
          <a:p>
            <a:pPr lvl="1"/>
            <a:r>
              <a:rPr lang="en-US" b="1" dirty="0"/>
              <a:t>Knowledge Distillation:</a:t>
            </a:r>
            <a:r>
              <a:rPr lang="en-US" dirty="0"/>
              <a:t> A large, accurate "teacher" model trains a much smaller "student" model, effectively transferring its knowledge.</a:t>
            </a:r>
          </a:p>
          <a:p>
            <a:pPr lvl="1"/>
            <a:r>
              <a:rPr lang="en-US" b="1" dirty="0"/>
              <a:t>Structured Pruning:</a:t>
            </a:r>
            <a:r>
              <a:rPr lang="en-US" dirty="0"/>
              <a:t> Unnecessary components (like entire neurons or filters) are removed from the student model to reduce its size and complexity.</a:t>
            </a:r>
          </a:p>
          <a:p>
            <a:pPr lvl="1"/>
            <a:r>
              <a:rPr lang="en-US" b="1" dirty="0"/>
              <a:t>Quantization:</a:t>
            </a:r>
            <a:r>
              <a:rPr lang="en-US" dirty="0"/>
              <a:t> The model's high-precision 32-bit numbers are converted to efficient 8-bit integers, making it up to 4x smaller and faster.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5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7EFF-DE05-BEE0-9810-4246C84A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Hardening the Model with Adversarial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344F5-FCBD-F602-45C0-CD1A7AE9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Threat:</a:t>
            </a:r>
            <a:r>
              <a:rPr lang="en-US" dirty="0"/>
              <a:t> AI models can be fooled by "adversarial examples"—inputs with tiny, malicious modifications designed to cause a misclassification (e.g., making an attack look like normal traffic).</a:t>
            </a:r>
          </a:p>
          <a:p>
            <a:r>
              <a:rPr lang="en-US" b="1" dirty="0"/>
              <a:t>Defense:</a:t>
            </a:r>
            <a:r>
              <a:rPr lang="en-US" dirty="0"/>
              <a:t> During the local FL training process, each device will automatically generate these adversarial examples and use them for training.</a:t>
            </a:r>
          </a:p>
          <a:p>
            <a:r>
              <a:rPr lang="en-US" b="1" dirty="0"/>
              <a:t>Outcome:</a:t>
            </a:r>
            <a:r>
              <a:rPr lang="en-US" dirty="0"/>
              <a:t> The final model learns to be robust against these manipulations, making it more secure and reliable in real-world deployment.</a:t>
            </a:r>
          </a:p>
        </p:txBody>
      </p:sp>
    </p:spTree>
    <p:extLst>
      <p:ext uri="{BB962C8B-B14F-4D97-AF65-F5344CB8AC3E}">
        <p14:creationId xmlns:p14="http://schemas.microsoft.com/office/powerpoint/2010/main" val="20851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4952-CEB7-5516-A718-D0038E7A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Scientific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F2C8-FC85-49E3-15BC-4F7CAFE33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research addresses the fundamental conflict between the three key goals:</a:t>
            </a:r>
          </a:p>
          <a:p>
            <a:pPr lvl="1"/>
            <a:r>
              <a:rPr lang="en-US" b="1" dirty="0"/>
              <a:t>Robustness</a:t>
            </a:r>
            <a:r>
              <a:rPr lang="en-US" dirty="0"/>
              <a:t> (adversarial training) tends to make models larger, conflicting with </a:t>
            </a:r>
            <a:r>
              <a:rPr lang="en-US" b="1" dirty="0"/>
              <a:t>Efficiency</a:t>
            </a:r>
            <a:r>
              <a:rPr lang="en-US" dirty="0"/>
              <a:t> (</a:t>
            </a:r>
            <a:r>
              <a:rPr lang="en-US" dirty="0" err="1"/>
              <a:t>TinyML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Efficiency</a:t>
            </a:r>
            <a:r>
              <a:rPr lang="en-US" dirty="0"/>
              <a:t> (model compression) can accidentally remove the features that provide </a:t>
            </a:r>
            <a:r>
              <a:rPr lang="en-US" b="1" dirty="0"/>
              <a:t>Robustness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Privacy</a:t>
            </a:r>
            <a:r>
              <a:rPr lang="en-US" dirty="0"/>
              <a:t> (the decentralized nature of FL) makes it difficult to coordinate a consistent robustness strategy.</a:t>
            </a:r>
          </a:p>
          <a:p>
            <a:r>
              <a:rPr lang="en-US" dirty="0"/>
              <a:t>The true innovation is creating a co-designed framework that navigates these trade-offs to produce a solution that is simultaneously secure, efficient, and private.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7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8300-F5BE-D161-61ED-B76E3C701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Timeline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80966-AE0B-2CE4-E593-0B653077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Weeks 1-3: Phase 1</a:t>
            </a:r>
            <a:r>
              <a:rPr lang="en-US" dirty="0"/>
              <a:t> - Foundation and Setup</a:t>
            </a:r>
          </a:p>
          <a:p>
            <a:r>
              <a:rPr lang="en-US" b="1" dirty="0"/>
              <a:t>Weeks 4-7: Phase 2</a:t>
            </a:r>
            <a:r>
              <a:rPr lang="en-US" dirty="0"/>
              <a:t> - Federated Learning Framework Implementation</a:t>
            </a:r>
          </a:p>
          <a:p>
            <a:r>
              <a:rPr lang="en-US" b="1" dirty="0"/>
              <a:t>Weeks 8-11: Phase 3</a:t>
            </a:r>
            <a:r>
              <a:rPr lang="en-US" dirty="0"/>
              <a:t> - </a:t>
            </a:r>
            <a:r>
              <a:rPr lang="en-US" dirty="0" err="1"/>
              <a:t>TinyML</a:t>
            </a:r>
            <a:r>
              <a:rPr lang="en-US" dirty="0"/>
              <a:t> Model Miniaturization</a:t>
            </a:r>
          </a:p>
          <a:p>
            <a:r>
              <a:rPr lang="en-US" b="1" dirty="0"/>
              <a:t>Weeks 12-14: Phase 4</a:t>
            </a:r>
            <a:r>
              <a:rPr lang="en-US" dirty="0"/>
              <a:t> - Adversarial Hardening and Deployment</a:t>
            </a:r>
          </a:p>
          <a:p>
            <a:r>
              <a:rPr lang="en-US" b="1" dirty="0"/>
              <a:t>Week 15: Phase 5</a:t>
            </a:r>
            <a:r>
              <a:rPr lang="en-US" dirty="0"/>
              <a:t> - Final Evaluation and Reporting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39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3802-476F-B369-C947-D0096A1D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Foundation and Setup (Weeks 1–3)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8C2F8-141D-0B30-F6CE-797781869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 Build foundational knowledge and prepare the project environment.</a:t>
            </a:r>
          </a:p>
          <a:p>
            <a:pPr lvl="1"/>
            <a:r>
              <a:rPr lang="en-US" b="1" dirty="0"/>
              <a:t>All:</a:t>
            </a:r>
            <a:r>
              <a:rPr lang="en-US" dirty="0"/>
              <a:t> Conduct thorough literature reviews.</a:t>
            </a:r>
          </a:p>
          <a:p>
            <a:pPr lvl="1"/>
            <a:r>
              <a:rPr lang="en-US" b="1" dirty="0"/>
              <a:t>Project Leader:</a:t>
            </a:r>
            <a:r>
              <a:rPr lang="en-US" dirty="0"/>
              <a:t> Design system architecture &amp; set up GitHub repo.</a:t>
            </a:r>
          </a:p>
          <a:p>
            <a:pPr lvl="1"/>
            <a:r>
              <a:rPr lang="en-US" b="1" dirty="0"/>
              <a:t>Team A (Data):</a:t>
            </a:r>
            <a:r>
              <a:rPr lang="en-US" dirty="0"/>
              <a:t> Select, analyze, and preprocess the primary dataset.</a:t>
            </a:r>
          </a:p>
          <a:p>
            <a:pPr lvl="1"/>
            <a:r>
              <a:rPr lang="en-US" b="1" dirty="0"/>
              <a:t>Team B (Modeling):</a:t>
            </a:r>
            <a:r>
              <a:rPr lang="en-US" dirty="0"/>
              <a:t> Research and propose 2-3 lightweight model architectures.</a:t>
            </a:r>
          </a:p>
          <a:p>
            <a:pPr lvl="1"/>
            <a:r>
              <a:rPr lang="en-US" b="1" dirty="0"/>
              <a:t>Team C (Hardware):</a:t>
            </a:r>
            <a:r>
              <a:rPr lang="en-US" dirty="0"/>
              <a:t> Set up microcontrollers and validate the toolchain with a "hello world" ML model.</a:t>
            </a:r>
          </a:p>
          <a:p>
            <a:r>
              <a:rPr lang="en-US" b="1" dirty="0"/>
              <a:t>Milestone:</a:t>
            </a:r>
            <a:r>
              <a:rPr lang="en-US" dirty="0"/>
              <a:t> Formal project proposal and literature review 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77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C31D-D360-68EE-94F4-B420AF0A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Federated Learning Framework (Weeks 4–7)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B2F6-0B3F-AB6D-0C84-942E960A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 Develop and simulate the core privacy-preserving training framework.</a:t>
            </a:r>
          </a:p>
          <a:p>
            <a:pPr lvl="1"/>
            <a:r>
              <a:rPr lang="en-US" b="1" dirty="0"/>
              <a:t>Project Leader:</a:t>
            </a:r>
            <a:r>
              <a:rPr lang="en-US" dirty="0"/>
              <a:t> Implement the central server with the Federated Averaging (</a:t>
            </a:r>
            <a:r>
              <a:rPr lang="en-US" dirty="0" err="1"/>
              <a:t>FedAvg</a:t>
            </a:r>
            <a:r>
              <a:rPr lang="en-US" dirty="0"/>
              <a:t>) algorithm.</a:t>
            </a:r>
          </a:p>
          <a:p>
            <a:pPr lvl="1"/>
            <a:r>
              <a:rPr lang="en-US" b="1" dirty="0"/>
              <a:t>Team A (Data):</a:t>
            </a:r>
            <a:r>
              <a:rPr lang="en-US" dirty="0"/>
              <a:t> Implement the FL client-side training logic and data loaders.</a:t>
            </a:r>
          </a:p>
          <a:p>
            <a:pPr lvl="1"/>
            <a:r>
              <a:rPr lang="en-US" b="1" dirty="0"/>
              <a:t>Team B (Modeling):</a:t>
            </a:r>
            <a:r>
              <a:rPr lang="en-US" dirty="0"/>
              <a:t> Provide the initial, uncompressed model for training.</a:t>
            </a:r>
          </a:p>
          <a:p>
            <a:pPr lvl="1"/>
            <a:r>
              <a:rPr lang="en-US" b="1" dirty="0"/>
              <a:t>Integration:</a:t>
            </a:r>
            <a:r>
              <a:rPr lang="en-US" dirty="0"/>
              <a:t> Simulate the full FL process with virtual clients to produce a global model.</a:t>
            </a:r>
          </a:p>
          <a:p>
            <a:r>
              <a:rPr lang="en-US" b="1" dirty="0"/>
              <a:t>Milestone:</a:t>
            </a:r>
            <a:r>
              <a:rPr lang="en-US" dirty="0"/>
              <a:t> A working FL simulation and a mid-semester progress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3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9E24-F994-BA11-C69A-FD364942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</a:t>
            </a:r>
            <a:r>
              <a:rPr lang="en-US" dirty="0" err="1"/>
              <a:t>TinyML</a:t>
            </a:r>
            <a:r>
              <a:rPr lang="en-US" dirty="0"/>
              <a:t> Model Miniaturization (Weeks 8–11)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3EC4D-AC9C-59A7-4970-B6262B5E7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 Compress the globally trained model to fit on a microcontroller.</a:t>
            </a:r>
          </a:p>
          <a:p>
            <a:pPr lvl="1"/>
            <a:r>
              <a:rPr lang="en-US" b="1" dirty="0"/>
              <a:t>Team B (Modeling):</a:t>
            </a:r>
            <a:r>
              <a:rPr lang="en-US" dirty="0"/>
              <a:t> Implement the three-stage compression pipeline:</a:t>
            </a:r>
          </a:p>
          <a:p>
            <a:pPr lvl="2"/>
            <a:r>
              <a:rPr lang="en-US" b="1" dirty="0"/>
              <a:t>Knowledge Distillation:</a:t>
            </a:r>
            <a:r>
              <a:rPr lang="en-US" dirty="0"/>
              <a:t> Train a small "student" model to mimic the large "teacher" model.</a:t>
            </a:r>
          </a:p>
          <a:p>
            <a:pPr lvl="2"/>
            <a:r>
              <a:rPr lang="en-US" b="1" dirty="0"/>
              <a:t>Structured Pruning:</a:t>
            </a:r>
            <a:r>
              <a:rPr lang="en-US" dirty="0"/>
              <a:t> Remove entire filters/neurons from the student model.</a:t>
            </a:r>
          </a:p>
          <a:p>
            <a:pPr lvl="2"/>
            <a:r>
              <a:rPr lang="en-US" b="1" dirty="0"/>
              <a:t>Quantization:</a:t>
            </a:r>
            <a:r>
              <a:rPr lang="en-US" dirty="0"/>
              <a:t> Convert weights to 8-bit integers and create the final .</a:t>
            </a:r>
            <a:r>
              <a:rPr lang="en-US" dirty="0" err="1"/>
              <a:t>tflite</a:t>
            </a:r>
            <a:r>
              <a:rPr lang="en-US" dirty="0"/>
              <a:t> model.</a:t>
            </a:r>
          </a:p>
          <a:p>
            <a:pPr lvl="1"/>
            <a:r>
              <a:rPr lang="en-US" b="1" dirty="0"/>
              <a:t>All Others:</a:t>
            </a:r>
            <a:r>
              <a:rPr lang="en-US" dirty="0"/>
              <a:t> Support Team B with testing and validation.</a:t>
            </a:r>
          </a:p>
          <a:p>
            <a:r>
              <a:rPr lang="en-US" b="1" dirty="0"/>
              <a:t>Milestone:</a:t>
            </a:r>
            <a:r>
              <a:rPr lang="en-US" dirty="0"/>
              <a:t> A compressed .</a:t>
            </a:r>
            <a:r>
              <a:rPr lang="en-US" dirty="0" err="1"/>
              <a:t>tflite</a:t>
            </a:r>
            <a:r>
              <a:rPr lang="en-US" dirty="0"/>
              <a:t> model file and a report on size vs. accuracy trade-offs.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5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08DB-70BE-4C7E-5581-19D094D1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Adversarial Hardening &amp; Deployment (Weeks 12–14)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2691-2522-A4F7-A214-F357D9028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 Integrate adversarial training and deploy the final robust model.</a:t>
            </a:r>
          </a:p>
          <a:p>
            <a:pPr lvl="1"/>
            <a:r>
              <a:rPr lang="en-US" b="1" dirty="0"/>
              <a:t>Team C (Hardware):</a:t>
            </a:r>
            <a:r>
              <a:rPr lang="en-US" dirty="0"/>
              <a:t> Implement the Fast Gradient Sign Method (FGSM) attack into the client training loop.</a:t>
            </a:r>
          </a:p>
          <a:p>
            <a:pPr lvl="1"/>
            <a:r>
              <a:rPr lang="en-US" b="1" dirty="0"/>
              <a:t>Leader &amp; Team A:</a:t>
            </a:r>
            <a:r>
              <a:rPr lang="en-US" dirty="0"/>
              <a:t> Re-run the entire FL process (Phase 2) with adversarial training enabled.</a:t>
            </a:r>
          </a:p>
          <a:p>
            <a:pPr lvl="1"/>
            <a:r>
              <a:rPr lang="en-US" b="1" dirty="0"/>
              <a:t>Team B (Modeling):</a:t>
            </a:r>
            <a:r>
              <a:rPr lang="en-US" dirty="0"/>
              <a:t> Re-run the compression pipeline (Phase 3) on the new robust model.</a:t>
            </a:r>
          </a:p>
          <a:p>
            <a:pPr lvl="1"/>
            <a:r>
              <a:rPr lang="en-US" b="1" dirty="0"/>
              <a:t>Team C (Hardware):</a:t>
            </a:r>
            <a:r>
              <a:rPr lang="en-US" dirty="0"/>
              <a:t> Deploy the final model to the microcontroller and measure its real-world performance (latency, memory usage).</a:t>
            </a:r>
          </a:p>
          <a:p>
            <a:r>
              <a:rPr lang="en-US" b="1" dirty="0"/>
              <a:t>Milestone:</a:t>
            </a:r>
            <a:r>
              <a:rPr lang="en-US" dirty="0"/>
              <a:t> Live demonstration of the IDS running on the microcontroller.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298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9E88-3C7F-69BF-4A38-DE31DD2B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5: Final Evaluation &amp; Reporting (Week 15)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A101-1C80-2248-7239-64B909181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 Quantify the project's success and deliver final results.</a:t>
            </a:r>
          </a:p>
          <a:p>
            <a:pPr lvl="1"/>
            <a:r>
              <a:rPr lang="en-US" b="1" dirty="0"/>
              <a:t>All:</a:t>
            </a:r>
            <a:r>
              <a:rPr lang="en-US" dirty="0"/>
              <a:t> Conduct comprehensive experiments comparing the final model against baselines on performance (accuracy, F1-score) and efficiency (size, latency).</a:t>
            </a:r>
          </a:p>
          <a:p>
            <a:pPr lvl="1"/>
            <a:r>
              <a:rPr lang="en-US" b="1" dirty="0"/>
              <a:t>Project Leader:</a:t>
            </a:r>
            <a:r>
              <a:rPr lang="en-US" dirty="0"/>
              <a:t> Lead the writing of the final project report.</a:t>
            </a:r>
          </a:p>
          <a:p>
            <a:pPr lvl="1"/>
            <a:r>
              <a:rPr lang="en-US" b="1" dirty="0"/>
              <a:t>All:</a:t>
            </a:r>
            <a:r>
              <a:rPr lang="en-US" dirty="0"/>
              <a:t> Prepare and deliver the final project presentation and demonstration.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970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CAAF-E2B5-F7C4-181A-1813A86C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Software &amp;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E8AD-EBCA-E6B9-37D6-22AA7B4CC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Federated Learning:</a:t>
            </a:r>
            <a:endParaRPr lang="en-US" dirty="0"/>
          </a:p>
          <a:p>
            <a:pPr lvl="1"/>
            <a:r>
              <a:rPr lang="en-US" b="1" dirty="0"/>
              <a:t>Flower:</a:t>
            </a:r>
            <a:r>
              <a:rPr lang="en-US" dirty="0"/>
              <a:t> Flexible and easy for initial implementation.</a:t>
            </a:r>
          </a:p>
          <a:p>
            <a:pPr lvl="1"/>
            <a:r>
              <a:rPr lang="en-US" b="1" dirty="0"/>
              <a:t>TensorFlow Federated (TFF):</a:t>
            </a:r>
            <a:r>
              <a:rPr lang="en-US" dirty="0"/>
              <a:t> Powerful for advanced customization.</a:t>
            </a:r>
          </a:p>
          <a:p>
            <a:r>
              <a:rPr lang="en-US" b="1" dirty="0" err="1"/>
              <a:t>TinyML</a:t>
            </a:r>
            <a:r>
              <a:rPr lang="en-US" b="1" dirty="0"/>
              <a:t> Framework:</a:t>
            </a:r>
            <a:endParaRPr lang="en-US" dirty="0"/>
          </a:p>
          <a:p>
            <a:pPr lvl="1"/>
            <a:r>
              <a:rPr lang="en-US" b="1" dirty="0"/>
              <a:t>TensorFlow Lite for Microcontrollers (</a:t>
            </a:r>
            <a:r>
              <a:rPr lang="en-US" b="1" dirty="0" err="1"/>
              <a:t>TFLite</a:t>
            </a:r>
            <a:r>
              <a:rPr lang="en-US" b="1" dirty="0"/>
              <a:t> Micro):</a:t>
            </a:r>
            <a:r>
              <a:rPr lang="en-US" dirty="0"/>
              <a:t> The core framework for on-device deployment.</a:t>
            </a:r>
          </a:p>
          <a:p>
            <a:r>
              <a:rPr lang="en-US" b="1" dirty="0"/>
              <a:t>Adversarial ML Libraries:</a:t>
            </a:r>
            <a:endParaRPr lang="en-US" dirty="0"/>
          </a:p>
          <a:p>
            <a:pPr lvl="1"/>
            <a:r>
              <a:rPr lang="en-US" b="1" dirty="0"/>
              <a:t>Adversarial Robustness Toolbox (ART):</a:t>
            </a:r>
            <a:r>
              <a:rPr lang="en-US" dirty="0"/>
              <a:t> For generating attacks (FGSM) and implementing defenses.</a:t>
            </a:r>
          </a:p>
          <a:p>
            <a:pPr lvl="1"/>
            <a:r>
              <a:rPr lang="en-US" b="1" dirty="0" err="1"/>
              <a:t>CleverHans</a:t>
            </a:r>
            <a:r>
              <a:rPr lang="en-US" b="1" dirty="0"/>
              <a:t>:</a:t>
            </a:r>
            <a:r>
              <a:rPr lang="en-US" dirty="0"/>
              <a:t> For benchmarking model vulnerability.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96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9393-94E2-63BF-EB0D-A7BBD54C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altLang="zh-CN" dirty="0"/>
              <a:t>eference</a:t>
            </a:r>
            <a:r>
              <a:rPr lang="zh-CN" altLang="en-US" dirty="0"/>
              <a:t> </a:t>
            </a:r>
            <a:r>
              <a:rPr lang="en-US" altLang="zh-CN" dirty="0"/>
              <a:t>Papers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3835E-C36F-213E-014B-11A2F3530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"Federated Learning for Intrusion Detection System: Concepts, Challenges and Future Directions" (2022)</a:t>
            </a:r>
          </a:p>
          <a:p>
            <a:r>
              <a:rPr lang="en-US" dirty="0"/>
              <a:t>"Federated Learning for IoT devices: enhancing </a:t>
            </a:r>
            <a:r>
              <a:rPr lang="en-US" dirty="0" err="1"/>
              <a:t>TinyML</a:t>
            </a:r>
            <a:r>
              <a:rPr lang="en-US" dirty="0"/>
              <a:t> with on-board training" (2024)</a:t>
            </a:r>
          </a:p>
          <a:p>
            <a:r>
              <a:rPr lang="en-US" dirty="0"/>
              <a:t>"Federated Learning for Secure and Private Intrusion Detection in Edge Networks" </a:t>
            </a:r>
            <a:r>
              <a:rPr lang="en-US" altLang="zh-CN" dirty="0"/>
              <a:t>(2025)</a:t>
            </a:r>
            <a:endParaRPr lang="en-US" dirty="0"/>
          </a:p>
          <a:p>
            <a:r>
              <a:rPr lang="en-US" dirty="0"/>
              <a:t>"Towards the development of realistic botnet dataset in the internet of things for network forensic analytics: Bot-</a:t>
            </a:r>
            <a:r>
              <a:rPr lang="en-US" dirty="0" err="1"/>
              <a:t>iot</a:t>
            </a:r>
            <a:r>
              <a:rPr lang="en-US" dirty="0"/>
              <a:t> dataset" (2019)</a:t>
            </a:r>
          </a:p>
          <a:p>
            <a:r>
              <a:rPr lang="en-US" dirty="0"/>
              <a:t>"</a:t>
            </a:r>
            <a:r>
              <a:rPr lang="en-US" dirty="0" err="1"/>
              <a:t>TON_IoT</a:t>
            </a:r>
            <a:r>
              <a:rPr lang="en-US" dirty="0"/>
              <a:t> telemetry dataset: a new generation dataset of IoT and </a:t>
            </a:r>
            <a:r>
              <a:rPr lang="en-US" dirty="0" err="1"/>
              <a:t>IIoT</a:t>
            </a:r>
            <a:r>
              <a:rPr lang="en-US" dirty="0"/>
              <a:t> for data-driven intrusion detection systems" (2020)</a:t>
            </a:r>
          </a:p>
          <a:p>
            <a:r>
              <a:rPr lang="en-US" dirty="0"/>
              <a:t>"A Review and Analysis of the Bot-IoT Dataset" (2021)</a:t>
            </a:r>
          </a:p>
          <a:p>
            <a:r>
              <a:rPr lang="en-US" dirty="0"/>
              <a:t>"A Survey on </a:t>
            </a:r>
            <a:r>
              <a:rPr lang="en-US" dirty="0" err="1"/>
              <a:t>TinyML</a:t>
            </a:r>
            <a:r>
              <a:rPr lang="en-US" dirty="0"/>
              <a:t>" (2023)</a:t>
            </a:r>
          </a:p>
          <a:p>
            <a:r>
              <a:rPr lang="en-US" dirty="0"/>
              <a:t>"Lightweight Deep Learning Models For Edge Devices—A Survey" (2025)</a:t>
            </a:r>
          </a:p>
          <a:p>
            <a:r>
              <a:rPr lang="en-US" dirty="0"/>
              <a:t>"A Holistic Review of Machine Learning Adversarial Attacks in IoT Networks" (2024)</a:t>
            </a:r>
          </a:p>
          <a:p>
            <a:r>
              <a:rPr lang="en-US" dirty="0"/>
              <a:t>"Detecting Adversarial Machine Learning-Assisted Attacks in IoT Networks" (2025</a:t>
            </a:r>
            <a:r>
              <a:rPr lang="en-US" altLang="zh-CN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9781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1270</Words>
  <Application>Microsoft Macintosh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Grandview</vt:lpstr>
      <vt:lpstr>Wingdings</vt:lpstr>
      <vt:lpstr>CosineVTI</vt:lpstr>
      <vt:lpstr>Federated &amp; Adversarially Robust TinyML for IoT Security</vt:lpstr>
      <vt:lpstr>Project Goal</vt:lpstr>
      <vt:lpstr>Phase 1: Privacy-Preserving Training with Federated Learning (FL)</vt:lpstr>
      <vt:lpstr>Phase 2: Efficient On-Device Deployment with TinyML</vt:lpstr>
      <vt:lpstr>Phase 3: Hardening the Model with Adversarial Training</vt:lpstr>
      <vt:lpstr>Core Scientific Contribution</vt:lpstr>
      <vt:lpstr>Project Timeline</vt:lpstr>
      <vt:lpstr>Phase 1: Foundation and Setup (Weeks 1–3)</vt:lpstr>
      <vt:lpstr>Phase 2: Federated Learning Framework (Weeks 4–7)</vt:lpstr>
      <vt:lpstr>Phase 3: TinyML Model Miniaturization (Weeks 8–11)</vt:lpstr>
      <vt:lpstr>Phase 4: Adversarial Hardening &amp; Deployment (Weeks 12–14)</vt:lpstr>
      <vt:lpstr>Phase 5: Final Evaluation &amp; Reporting (Week 15)</vt:lpstr>
      <vt:lpstr>Core Software &amp; Frameworks</vt:lpstr>
      <vt:lpstr>Reference Papers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Peilong</dc:creator>
  <cp:lastModifiedBy>Li, Peilong</cp:lastModifiedBy>
  <cp:revision>17</cp:revision>
  <dcterms:created xsi:type="dcterms:W3CDTF">2025-09-10T15:40:21Z</dcterms:created>
  <dcterms:modified xsi:type="dcterms:W3CDTF">2025-09-10T20:10:10Z</dcterms:modified>
</cp:coreProperties>
</file>